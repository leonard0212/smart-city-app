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822960"/>
            <a:ext cx="128016" cy="128016"/>
          </a:xfrm>
          <a:prstGeom prst="ellipse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822960"/>
            <a:ext cx="128016" cy="128016"/>
          </a:xfrm>
          <a:prstGeom prst="ellipse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822960"/>
            <a:ext cx="128016" cy="128016"/>
          </a:xfrm>
          <a:prstGeom prst="ellipse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0" y="1645920"/>
            <a:ext cx="128016" cy="128016"/>
          </a:xfrm>
          <a:prstGeom prst="ellipse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0" y="1645920"/>
            <a:ext cx="128016" cy="128016"/>
          </a:xfrm>
          <a:prstGeom prst="ellipse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0" y="1645920"/>
            <a:ext cx="128016" cy="128016"/>
          </a:xfrm>
          <a:prstGeom prst="ellipse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35608"/>
            <a:ext cx="301752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C5B5"/>
                </a:solidFill>
                <a:latin typeface="Segoe UI Semibold"/>
              </a:rPr>
              <a:t>PREZENTARE APLICAȚIE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Segoe UI Semibold"/>
              </a:rPr>
              <a:t>SmartCity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C9D8E6"/>
                </a:solidFill>
                <a:latin typeface="Segoe UI"/>
              </a:rPr>
              <a:t>Platformă municipală de detecție și rezolvare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C9D8E6"/>
                </a:solidFill>
                <a:latin typeface="Segoe UI"/>
              </a:rPr>
              <a:t>problemelor din oraș, pe bază de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37760"/>
            <a:ext cx="2926080" cy="41148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9FB4C8"/>
                </a:solidFill>
                <a:latin typeface="Segoe UI"/>
              </a:rPr>
              <a:t>Ce face aplicația  ·  Arhitectură  ·  Stack tehnologic  ·  Flux de 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BC5B5"/>
                </a:solidFill>
                <a:latin typeface="Segoe UI"/>
              </a:rPr>
              <a:t>.NET 8  ·  ASP.NET Core MVC  ·  Azure Service Bus  ·  SQL Server  ·  Azure Blob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C5B5"/>
                </a:solidFill>
                <a:latin typeface="Segoe UI Semibold"/>
              </a:rPr>
              <a:t>PE SCURT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Ce este SmartCity?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64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Segoe UI"/>
              </a:rPr>
              <a:t>O platformă prin care </a:t>
            </a:r>
            <a:r>
              <a:rPr sz="1500" b="1">
                <a:solidFill>
                  <a:srgbClr val="1A2B3C"/>
                </a:solidFill>
                <a:latin typeface="Segoe UI"/>
              </a:rPr>
              <a:t>dispozitive edge / camere cu AI</a:t>
            </a:r>
            <a:r>
              <a:rPr sz="1500" b="0">
                <a:solidFill>
                  <a:srgbClr val="1A2B3C"/>
                </a:solidFill>
                <a:latin typeface="Segoe UI"/>
              </a:rPr>
              <a:t> detectează automat probleme din oraș (gropi, gunoaie, panouri publicitare, indicatoare), iar </a:t>
            </a:r>
            <a:r>
              <a:rPr sz="1500" b="1">
                <a:solidFill>
                  <a:srgbClr val="1A2B3C"/>
                </a:solidFill>
                <a:latin typeface="Segoe UI"/>
              </a:rPr>
              <a:t>operatorii primăriei</a:t>
            </a:r>
            <a:r>
              <a:rPr sz="1500" b="0">
                <a:solidFill>
                  <a:srgbClr val="1A2B3C"/>
                </a:solidFill>
                <a:latin typeface="Segoe UI"/>
              </a:rPr>
              <a:t> le triază, le repartizează pe departamente și urmăresc rezolvarea 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36118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611880" cy="10972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6324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B3C"/>
                </a:solidFill>
                <a:latin typeface="Segoe UI Semibold"/>
              </a:rPr>
              <a:t>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11880"/>
            <a:ext cx="30998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27288"/>
                </a:solidFill>
                <a:latin typeface="Segoe UI"/>
              </a:rPr>
              <a:t>Sesizările despre defecte urbane sunt lente și manuale. Nu există o imagine unitară a ce trebuie reparat și cine se ocupă.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788920"/>
            <a:ext cx="36118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9392" y="2788920"/>
            <a:ext cx="3611880" cy="109728"/>
          </a:xfrm>
          <a:prstGeom prst="round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306324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B3C"/>
                </a:solidFill>
                <a:latin typeface="Segoe UI Semibold"/>
              </a:rPr>
              <a:t>Soluția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611880"/>
            <a:ext cx="30998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27288"/>
                </a:solidFill>
                <a:latin typeface="Segoe UI"/>
              </a:rPr>
              <a:t>AI detectează automat din imagini, sistemul centralizează totul într-un dashboard, iar sarcinile ajung la echipa potrivită.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788920"/>
            <a:ext cx="36118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2788920"/>
            <a:ext cx="3611880" cy="109728"/>
          </a:xfrm>
          <a:prstGeom prst="round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306324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B3C"/>
                </a:solidFill>
                <a:latin typeface="Segoe UI Semibold"/>
              </a:rPr>
              <a:t>Rezultatul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3611880"/>
            <a:ext cx="30998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27288"/>
                </a:solidFill>
                <a:latin typeface="Segoe UI"/>
              </a:rPr>
              <a:t>Triaj rapid, atribuire pe departament/echipă, istoric complet al rezolvării și analytics pe hartă.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27288"/>
                </a:solidFill>
                <a:latin typeface="Segoe UI"/>
              </a:rPr>
              <a:t>Domeniu: </a:t>
            </a:r>
            <a:r>
              <a:rPr sz="1200" b="0">
                <a:solidFill>
                  <a:srgbClr val="627288"/>
                </a:solidFill>
                <a:latin typeface="Segoe UI"/>
              </a:rPr>
              <a:t>infrastructură municipală / „smart city”. Interfața și mesajele de flux sunt în limba română.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C5B5"/>
                </a:solidFill>
                <a:latin typeface="Segoe UI Semibold"/>
              </a:rPr>
              <a:t>CUM FUNCȚIONEAZĂ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Fluxul funcțional — de la detecție la rezolvare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2084831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7007" y="2286000"/>
            <a:ext cx="768096" cy="768096"/>
          </a:xfrm>
          <a:prstGeom prst="ellipse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7" y="2304288"/>
            <a:ext cx="76809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246120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2B3C"/>
                </a:solidFill>
                <a:latin typeface="Segoe UI Semibold"/>
              </a:rPr>
              <a:t>Detecție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719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27288"/>
                </a:solidFill>
                <a:latin typeface="Segoe UI"/>
              </a:rPr>
              <a:t>Camere / dispozitive edge cu AI identifică o problemă și trimit imaginea + coordonate GPS.</a:t>
            </a:r>
          </a:p>
        </p:txBody>
      </p:sp>
      <p:sp>
        <p:nvSpPr>
          <p:cNvPr id="12" name="Chevron 11"/>
          <p:cNvSpPr/>
          <p:nvPr/>
        </p:nvSpPr>
        <p:spPr>
          <a:xfrm>
            <a:off x="2615184" y="3310128"/>
            <a:ext cx="256032" cy="512064"/>
          </a:xfrm>
          <a:prstGeom prst="chevron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1965960"/>
            <a:ext cx="2084831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65576" y="2286000"/>
            <a:ext cx="768096" cy="768096"/>
          </a:xfrm>
          <a:prstGeom prst="ellipse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2304288"/>
            <a:ext cx="76809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246120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2B3C"/>
                </a:solidFill>
                <a:latin typeface="Segoe UI Semibold"/>
              </a:rPr>
              <a:t>Ingestie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749039"/>
            <a:ext cx="1719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27288"/>
                </a:solidFill>
                <a:latin typeface="Segoe UI"/>
              </a:rPr>
              <a:t>Mesajul intră în coadă, workerul îl preia, îmbogățește imaginea cu AI și o stochează.</a:t>
            </a:r>
          </a:p>
        </p:txBody>
      </p:sp>
      <p:sp>
        <p:nvSpPr>
          <p:cNvPr id="18" name="Chevron 17"/>
          <p:cNvSpPr/>
          <p:nvPr/>
        </p:nvSpPr>
        <p:spPr>
          <a:xfrm>
            <a:off x="4873752" y="3310128"/>
            <a:ext cx="256032" cy="512064"/>
          </a:xfrm>
          <a:prstGeom prst="chevron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5" y="1965960"/>
            <a:ext cx="2084831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143" y="2286000"/>
            <a:ext cx="768096" cy="768096"/>
          </a:xfrm>
          <a:prstGeom prst="ellipse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143" y="2304288"/>
            <a:ext cx="76809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3246120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2B3C"/>
                </a:solidFill>
                <a:latin typeface="Segoe UI Semibold"/>
              </a:rPr>
              <a:t>Triaj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5" y="3749039"/>
            <a:ext cx="1719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27288"/>
                </a:solidFill>
                <a:latin typeface="Segoe UI"/>
              </a:rPr>
              <a:t>Operatorul vede sesizările brute în inbox-ul de administrare și le validează / promovează.</a:t>
            </a:r>
          </a:p>
        </p:txBody>
      </p:sp>
      <p:sp>
        <p:nvSpPr>
          <p:cNvPr id="24" name="Chevron 23"/>
          <p:cNvSpPr/>
          <p:nvPr/>
        </p:nvSpPr>
        <p:spPr>
          <a:xfrm>
            <a:off x="7132319" y="3310128"/>
            <a:ext cx="256032" cy="512064"/>
          </a:xfrm>
          <a:prstGeom prst="chevron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1965960"/>
            <a:ext cx="2084831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82712" y="2286000"/>
            <a:ext cx="768096" cy="768096"/>
          </a:xfrm>
          <a:prstGeom prst="ellipse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2304288"/>
            <a:ext cx="76809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246120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2B3C"/>
                </a:solidFill>
                <a:latin typeface="Segoe UI Semibold"/>
              </a:rPr>
              <a:t>Repartizare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3" y="3749039"/>
            <a:ext cx="1719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27288"/>
                </a:solidFill>
                <a:latin typeface="Segoe UI"/>
              </a:rPr>
              <a:t>Detecția e atribuită unui departament + echipă, cu interval de rezolvare (Gantt).</a:t>
            </a:r>
          </a:p>
        </p:txBody>
      </p:sp>
      <p:sp>
        <p:nvSpPr>
          <p:cNvPr id="30" name="Chevron 29"/>
          <p:cNvSpPr/>
          <p:nvPr/>
        </p:nvSpPr>
        <p:spPr>
          <a:xfrm>
            <a:off x="9390888" y="3310128"/>
            <a:ext cx="256032" cy="512064"/>
          </a:xfrm>
          <a:prstGeom prst="chevron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1" y="1965960"/>
            <a:ext cx="2084831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1280" y="2286000"/>
            <a:ext cx="768096" cy="768096"/>
          </a:xfrm>
          <a:prstGeom prst="ellipse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2304288"/>
            <a:ext cx="76809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5" y="3246120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2B3C"/>
                </a:solidFill>
                <a:latin typeface="Segoe UI Semibold"/>
              </a:rPr>
              <a:t>Rezolvare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1" y="3749039"/>
            <a:ext cx="1719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27288"/>
                </a:solidFill>
                <a:latin typeface="Segoe UI"/>
              </a:rPr>
              <a:t>Echipa lucrează; chat + jurnal de flux urmăresc pașii până la „Rezolvat”.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"/>
              </a:rPr>
              <a:t>Cele 4 categorii de detecții:  </a:t>
            </a:r>
            <a:r>
              <a:rPr sz="1300" b="0">
                <a:solidFill>
                  <a:srgbClr val="627288"/>
                </a:solidFill>
                <a:latin typeface="Segoe UI"/>
              </a:rPr>
              <a:t>Gropi / infrastructură rutieră   ·   Gunoaie / colectare   ·   Panouri publicitare   ·   Indicatoare rutiere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440680"/>
            <a:ext cx="11091672" cy="27432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C5B5"/>
                </a:solidFill>
                <a:latin typeface="Segoe UI Semibold"/>
              </a:rPr>
              <a:t>ARHITECTURĂ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Arhitectura de ansamblu — aplicație N-tier / layered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27288"/>
                </a:solidFill>
                <a:latin typeface="Segoe UI"/>
              </a:rPr>
              <a:t>Arhitectură pe straturi în stil Clean/Onion: dependențele curg spre interior, către </a:t>
            </a:r>
            <a:r>
              <a:rPr sz="1250" b="1">
                <a:solidFill>
                  <a:srgbClr val="0E8C82"/>
                </a:solidFill>
                <a:latin typeface="Segoe UI"/>
              </a:rPr>
              <a:t>Domain</a:t>
            </a:r>
            <a:r>
              <a:rPr sz="1250" b="0">
                <a:solidFill>
                  <a:srgbClr val="627288"/>
                </a:solidFill>
                <a:latin typeface="Segoe UI"/>
              </a:rPr>
              <a:t>. Interfețele (porturile) stau la mijloc, iar toate proiectele codează pe abstracții.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4160520" cy="841248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75688"/>
            <a:ext cx="3886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SmartCity.Web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CF2"/>
                </a:solidFill>
                <a:latin typeface="Segoe UI"/>
              </a:rPr>
              <a:t>MVC UI · controllers · Razor views (punct de intrare)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965960"/>
            <a:ext cx="4160520" cy="841248"/>
          </a:xfrm>
          <a:prstGeom prst="round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075688"/>
            <a:ext cx="3886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SmartCity.MessageBrokerWorker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CF2"/>
                </a:solidFill>
                <a:latin typeface="Segoe UI"/>
              </a:rPr>
              <a:t>Host separat · rulează listener-ul ca BackgroundService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44368"/>
            <a:ext cx="8503920" cy="777240"/>
          </a:xfrm>
          <a:prstGeom prst="round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822960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SmartCity.Core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CF2"/>
                </a:solidFill>
                <a:latin typeface="Segoe UI"/>
              </a:rPr>
              <a:t>Logică de business · toate serviciile · AutoMapper · middleware · 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03904"/>
            <a:ext cx="4160520" cy="777240"/>
          </a:xfrm>
          <a:prstGeom prst="roundRect">
            <a:avLst/>
          </a:prstGeom>
          <a:solidFill>
            <a:srgbClr val="2E6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13632"/>
            <a:ext cx="388620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SmartCity.MessageBroker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CF2"/>
                </a:solidFill>
                <a:latin typeface="Segoe UI"/>
              </a:rPr>
              <a:t>Azure Service Bus · sender / listener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803904"/>
            <a:ext cx="4160520" cy="777240"/>
          </a:xfrm>
          <a:prstGeom prst="roundRect">
            <a:avLst/>
          </a:prstGeom>
          <a:solidFill>
            <a:srgbClr val="2E6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913632"/>
            <a:ext cx="388620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SmartCity.Database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CF2"/>
                </a:solidFill>
                <a:latin typeface="Segoe UI"/>
              </a:rPr>
              <a:t>EF Core · repositories · UnitOfWork · Identity stores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8503920" cy="640080"/>
          </a:xfrm>
          <a:prstGeom prst="roundRect">
            <a:avLst/>
          </a:prstGeom>
          <a:solidFill>
            <a:srgbClr val="4A5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73168"/>
            <a:ext cx="8229600" cy="457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SmartCity.Interfaces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CF2"/>
                </a:solidFill>
                <a:latin typeface="Segoe UI"/>
              </a:rPr>
              <a:t>Porturi / abstracții — IUnitOfWork, IApplicationContext, repo &amp; service interfaces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60"/>
            <a:ext cx="8503920" cy="658368"/>
          </a:xfrm>
          <a:prstGeom prst="roundRect">
            <a:avLst/>
          </a:prstGeom>
          <a:solidFill>
            <a:srgbClr val="1A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504688"/>
            <a:ext cx="8229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SmartCity.Domain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CF2"/>
                </a:solidFill>
                <a:latin typeface="Segoe UI"/>
              </a:rPr>
              <a:t>Entități · enum-uri · service models — fundația, fără dependențe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965960"/>
            <a:ext cx="2313432" cy="4087368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59" y="2121408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27288"/>
                </a:solidFill>
                <a:latin typeface="Segoe UI Semibold"/>
              </a:rPr>
              <a:t>SUPORT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59" y="2560320"/>
            <a:ext cx="73152" cy="457200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514600"/>
            <a:ext cx="181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B3C"/>
                </a:solidFill>
                <a:latin typeface="Segoe UI"/>
              </a:rPr>
              <a:t>Template.Database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825496"/>
            <a:ext cx="18105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27288"/>
                </a:solidFill>
                <a:latin typeface="Segoe UI"/>
              </a:rPr>
              <a:t>Schema DB ca cod (.sqlproj → .dacpac)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59" y="3675887"/>
            <a:ext cx="73152" cy="457200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630168"/>
            <a:ext cx="181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B3C"/>
                </a:solidFill>
                <a:latin typeface="Segoe UI"/>
              </a:rPr>
              <a:t>Template.Logging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941063"/>
            <a:ext cx="18105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27288"/>
                </a:solidFill>
                <a:latin typeface="Segoe UI"/>
              </a:rPr>
              <a:t>5 tabele de log ca cod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59" y="4791455"/>
            <a:ext cx="73152" cy="457200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4745736"/>
            <a:ext cx="181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B3C"/>
                </a:solidFill>
                <a:latin typeface="Segoe UI"/>
              </a:rPr>
              <a:t>SmartCity.Test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056631"/>
            <a:ext cx="18105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27288"/>
                </a:solidFill>
                <a:latin typeface="Segoe UI"/>
              </a:rPr>
              <a:t>xUnit · Moq · Bogus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C5B5"/>
                </a:solidFill>
                <a:latin typeface="Segoe UI Semibold"/>
              </a:rPr>
              <a:t>ARHITECTURĂ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Fluxul de date end-to-end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1700784" cy="16002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1517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Edge /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99232"/>
            <a:ext cx="1060704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3108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Camere &amp; dispozitive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36499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detectează probleme</a:t>
            </a:r>
          </a:p>
        </p:txBody>
      </p:sp>
      <p:sp>
        <p:nvSpPr>
          <p:cNvPr id="12" name="Chevron 11"/>
          <p:cNvSpPr/>
          <p:nvPr/>
        </p:nvSpPr>
        <p:spPr>
          <a:xfrm>
            <a:off x="2176272" y="2903220"/>
            <a:ext cx="182880" cy="365760"/>
          </a:xfrm>
          <a:prstGeom prst="chevron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0008" y="2286000"/>
            <a:ext cx="1700784" cy="1600200"/>
          </a:xfrm>
          <a:prstGeom prst="round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2468880"/>
            <a:ext cx="1517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Azure Service Bus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8" y="2999232"/>
            <a:ext cx="1060704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3108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Coadă de mesaje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36499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(test-queue)</a:t>
            </a:r>
          </a:p>
        </p:txBody>
      </p:sp>
      <p:sp>
        <p:nvSpPr>
          <p:cNvPr id="18" name="Chevron 17"/>
          <p:cNvSpPr/>
          <p:nvPr/>
        </p:nvSpPr>
        <p:spPr>
          <a:xfrm>
            <a:off x="4023360" y="2903220"/>
            <a:ext cx="182880" cy="365760"/>
          </a:xfrm>
          <a:prstGeom prst="chevron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97096" y="2286000"/>
            <a:ext cx="1700784" cy="1600200"/>
          </a:xfrm>
          <a:prstGeom prst="round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2468880"/>
            <a:ext cx="1517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Worker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17136" y="2999232"/>
            <a:ext cx="1060704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3108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BackgroundService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36499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ingeră mesajul</a:t>
            </a:r>
          </a:p>
        </p:txBody>
      </p:sp>
      <p:sp>
        <p:nvSpPr>
          <p:cNvPr id="24" name="Chevron 23"/>
          <p:cNvSpPr/>
          <p:nvPr/>
        </p:nvSpPr>
        <p:spPr>
          <a:xfrm>
            <a:off x="5870448" y="2903220"/>
            <a:ext cx="182880" cy="365760"/>
          </a:xfrm>
          <a:prstGeom prst="chevron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44184" y="2286000"/>
            <a:ext cx="1700784" cy="1600200"/>
          </a:xfrm>
          <a:prstGeom prst="roundRect">
            <a:avLst/>
          </a:prstGeom>
          <a:solidFill>
            <a:srgbClr val="2E6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5624" y="2468880"/>
            <a:ext cx="1517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Servicii AI (HTTP)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4224" y="2999232"/>
            <a:ext cx="1060704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7336" y="3108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Adnotează imaginea &amp;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7336" y="336499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extrage date pe categorie</a:t>
            </a:r>
          </a:p>
        </p:txBody>
      </p:sp>
      <p:sp>
        <p:nvSpPr>
          <p:cNvPr id="30" name="Chevron 29"/>
          <p:cNvSpPr/>
          <p:nvPr/>
        </p:nvSpPr>
        <p:spPr>
          <a:xfrm>
            <a:off x="7717536" y="2903220"/>
            <a:ext cx="182880" cy="365760"/>
          </a:xfrm>
          <a:prstGeom prst="chevron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91272" y="2286000"/>
            <a:ext cx="1700784" cy="1600200"/>
          </a:xfrm>
          <a:prstGeom prst="round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2" y="2468880"/>
            <a:ext cx="1517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Stocare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11312" y="2999232"/>
            <a:ext cx="1060704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64424" y="3108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Azure Blob (imagini)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4424" y="336499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+ SQL Server (date)</a:t>
            </a:r>
          </a:p>
        </p:txBody>
      </p:sp>
      <p:sp>
        <p:nvSpPr>
          <p:cNvPr id="36" name="Chevron 35"/>
          <p:cNvSpPr/>
          <p:nvPr/>
        </p:nvSpPr>
        <p:spPr>
          <a:xfrm>
            <a:off x="9564624" y="2903220"/>
            <a:ext cx="182880" cy="365760"/>
          </a:xfrm>
          <a:prstGeom prst="chevron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38360" y="2286000"/>
            <a:ext cx="1700784" cy="16002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2468880"/>
            <a:ext cx="1517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Web UI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2999232"/>
            <a:ext cx="1060704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11512" y="3108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Operatorii triază,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1512" y="336499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4EFF3"/>
                </a:solidFill>
                <a:latin typeface="Segoe UI"/>
              </a:rPr>
              <a:t>repartizează, rezolvă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97680"/>
            <a:ext cx="11137392" cy="96012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434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B3C"/>
                </a:solidFill>
                <a:latin typeface="Segoe UI"/>
              </a:rPr>
              <a:t>La ingestie: </a:t>
            </a:r>
            <a:r>
              <a:rPr sz="1200" b="0">
                <a:solidFill>
                  <a:srgbClr val="627288"/>
                </a:solidFill>
                <a:latin typeface="Segoe UI"/>
              </a:rPr>
              <a:t>workerul descarcă imaginile prin HTTP, le urcă în Azure Blob, salvează detecția brută (RawDetection, status </a:t>
            </a:r>
            <a:r>
              <a:rPr sz="1200" b="1">
                <a:solidFill>
                  <a:srgbClr val="0E8C82"/>
                </a:solidFill>
                <a:latin typeface="Segoe UI"/>
              </a:rPr>
              <a:t>Unprocessed</a:t>
            </a:r>
            <a:r>
              <a:rPr sz="1200" b="0">
                <a:solidFill>
                  <a:srgbClr val="627288"/>
                </a:solidFill>
                <a:latin typeface="Segoe UI"/>
              </a:rPr>
              <a:t>), apoi cheamă serviciile AI pentru imagini adnotate și date pe categorie.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B3C"/>
                </a:solidFill>
                <a:latin typeface="Segoe UI"/>
              </a:rPr>
              <a:t>La triaj: </a:t>
            </a:r>
            <a:r>
              <a:rPr sz="1200" b="0">
                <a:solidFill>
                  <a:srgbClr val="627288"/>
                </a:solidFill>
                <a:latin typeface="Segoe UI"/>
              </a:rPr>
              <a:t>operatorul „promovează” RawDetection într-o Detecție tipată (groapă / gunoi / panou / indicator) → status </a:t>
            </a:r>
            <a:r>
              <a:rPr sz="1200" b="1">
                <a:solidFill>
                  <a:srgbClr val="0E8C82"/>
                </a:solidFill>
                <a:latin typeface="Segoe UI"/>
              </a:rPr>
              <a:t>Processed</a:t>
            </a:r>
            <a:r>
              <a:rPr sz="1200" b="0">
                <a:solidFill>
                  <a:srgbClr val="627288"/>
                </a:solidFill>
                <a:latin typeface="Segoe U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Notă: </a:t>
            </a:r>
            <a:r>
              <a:rPr sz="1150" b="0">
                <a:solidFill>
                  <a:srgbClr val="627288"/>
                </a:solidFill>
                <a:latin typeface="Segoe UI"/>
              </a:rPr>
              <a:t>procesarea AI și de imagini rulează inline, în handler-ul de mesaj. Web-ul NU consumă coada — doar workerul o ascultă.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C5B5"/>
                </a:solidFill>
                <a:latin typeface="Segoe UI Semibold"/>
              </a:rPr>
              <a:t>TEHNOLOGII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Stack tehnologic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81328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074152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Aspect</a:t>
                      </a:r>
                    </a:p>
                  </a:txBody>
                  <a:tcPr anchor="ctr" marL="128016" marT="18288" marB="18288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Tehnologie</a:t>
                      </a:r>
                    </a:p>
                  </a:txBody>
                  <a:tcPr anchor="ctr" marL="128016" marT="18288" marB="18288">
                    <a:solidFill>
                      <a:srgbClr val="0F2A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Runtime / limbaj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.NET 8.0  ·  C# (nullable, implicit usings)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Web framework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ASP.NET Core MVC  ·  Razor views + partials  ·  Razor Runtime Compilation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Acces la date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EF Core 8 (SQL Server)  +  Dapper 2.1 (SQL brut pentru dashboard)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Bază de date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Microsoft SQL Server / Azure SQL  —  2 baze (aplicație + logging)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Message broker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Azure Service Bus 7.18 (cozi)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Stocare fișiere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Azure Blob Storage 12.24 (imagini, cu SAS URL)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ASP.NET Core Identity  ·  cookie auth  ·  impersonare  ·  schelet 2FA (QRCoder)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Logging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NLog  →  bază de date de logging separată (5 target-uri)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Mapping / JSON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AutoMapper 13  ·  Newtonsoft.Json + System.Text.Json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Imagini / BI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SixLabors.ImageSharp  ·  Power BI API (analytics, momentan stub)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Testare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xUnit  ·  Moq  ·  Bogus  ·  NBuilder</a:t>
                      </a:r>
                    </a:p>
                  </a:txBody>
                  <a:tcPr anchor="ctr" marL="12801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B3C"/>
                          </a:solidFill>
                          <a:latin typeface="Segoe UI"/>
                        </a:rPr>
                        <a:t>Containerizare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7288"/>
                          </a:solidFill>
                          <a:latin typeface="Segoe UI"/>
                        </a:rPr>
                        <a:t>Docker (imagine Windows nanoserver, base aspnet:8.0)</a:t>
                      </a:r>
                    </a:p>
                  </a:txBody>
                  <a:tcPr anchor="ctr" marL="128016" marT="9144" marB="9144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C5B5"/>
                </a:solidFill>
                <a:latin typeface="Segoe UI Semibold"/>
              </a:rPr>
              <a:t>STRUCTURĂ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Proiectele soluției (10 proiecte)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7276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SmartCity.Web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8366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Portalul MVC — controllers, Razor views, view models. Punctul de intrare al aplicației.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63040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463040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57276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SmartCity.Core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88366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Inima business — toate serviciile, profile AutoMapper, middleware, filtre, wiring de 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50592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450592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5603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SmartCity.Interfaces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871216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Toate abstracțiile: IUnitOfWork, IApplicationContext, interfețe de repo &amp; servicii.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2450592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2450592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25603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SmartCity.Domain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871216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Domeniul pur: entități, enum-uri, service models. Fără dependențe pe alt proiect.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438144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438144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SmartCity.Database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858768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EF Core DatabaseContext, repositories (generic + specific), Identity stores, UnitOfWork.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438144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53912" y="3438144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354787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SmartCity.MessageBroker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858768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Sender + listener Azure Service Bus și wiring-ul de DI aferent.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25696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425696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453542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SmartCity.MessageBrokerWorker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8463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Host separat, deployabil — rulează listener-ul de coadă ca serviciu de fundal.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4425696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53912" y="4425696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453542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Template.Database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48463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Schema bazei de date ca cod (.sqlproj → .dacpac). Sursa de adevăr pentru tabele.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413248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5413248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52297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Template.Logging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5833872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Schema bazei de logging: ApplicationLogs, RequestDataLogs, MessageBrokerDataLogs, 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3912" y="5413248"/>
            <a:ext cx="5486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53912" y="5413248"/>
            <a:ext cx="91440" cy="877824"/>
          </a:xfrm>
          <a:prstGeom prst="round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552297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B3C"/>
                </a:solidFill>
                <a:latin typeface="Segoe UI Semibold"/>
              </a:rPr>
              <a:t>SmartCity.Test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5833872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627288"/>
                </a:solidFill>
                <a:latin typeface="Segoe UI"/>
              </a:rPr>
              <a:t>Proiect de teste (xUnit, Moq, Bogus). Momentan minimal.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C5B5"/>
                </a:solidFill>
                <a:latin typeface="Segoe UI Semibold"/>
              </a:rPr>
              <a:t>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Stratul de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2B3C"/>
                </a:solidFill>
                <a:latin typeface="Segoe UI Semibold"/>
              </a:rPr>
              <a:t>Două baze de date, două DbContext-uri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DatabaseContext</a:t>
            </a:r>
            <a:r>
              <a:rPr sz="1200" b="0">
                <a:solidFill>
                  <a:srgbClr val="627288"/>
                </a:solidFill>
                <a:latin typeface="Segoe UI"/>
              </a:rPr>
              <a:t> — baza principală (IdentityDbContext&lt;User,Role,Guid&gt;). Mapează explicit toate tabelele + TPH pentru detecții.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LogDatabaseContext</a:t>
            </a:r>
            <a:r>
              <a:rPr sz="1200" b="0">
                <a:solidFill>
                  <a:srgbClr val="627288"/>
                </a:solidFill>
                <a:latin typeface="Segoe UI"/>
              </a:rPr>
              <a:t> — baza de logging, scrisă și direct de NLog.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0876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642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2B3C"/>
                </a:solidFill>
                <a:latin typeface="Segoe UI Semibold"/>
              </a:rPr>
              <a:t>Tipare de acces (mixte)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1488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Repository + Unit of Work</a:t>
            </a:r>
            <a:r>
              <a:rPr sz="1200" b="0">
                <a:solidFill>
                  <a:srgbClr val="627288"/>
                </a:solidFill>
                <a:latin typeface="Segoe UI"/>
              </a:rPr>
              <a:t> — generic &amp; specific, cu helper-i READ UNCOMMITTED.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Dapper</a:t>
            </a:r>
            <a:r>
              <a:rPr sz="1200" b="0">
                <a:solidFill>
                  <a:srgbClr val="627288"/>
                </a:solidFill>
                <a:latin typeface="Segoe UI"/>
              </a:rPr>
              <a:t> — SQL brut pentru numărătorile din dashboard.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Query builders</a:t>
            </a:r>
            <a:r>
              <a:rPr sz="1200" b="0">
                <a:solidFill>
                  <a:srgbClr val="627288"/>
                </a:solidFill>
                <a:latin typeface="Segoe UI"/>
              </a:rPr>
              <a:t> — predicate/order dinamice → PagedList.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11091672" cy="228600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2B3C"/>
                </a:solidFill>
                <a:latin typeface="Segoe UI Semibold"/>
              </a:rPr>
              <a:t>Modelul de domeniu — cele mai importante entități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708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Ingestie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RawDetection (inbox brut)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RawDetectedObject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ProcessStatus: Unprocessed→Processed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3708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38912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Detecții (TPH)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82803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Detection (entitatea centrală)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RoadInfrastructure / Trash /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Billboard / TrafficSign Detection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DetectionFile · Chat · FlowLog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3708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38912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Organizare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82803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Departament → Team →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TeamMembership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User (IdentityUser) · Account · Role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43708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38912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Sistem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82803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SystemProperty (setări)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AppFile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627288"/>
                </a:solidFill>
                <a:latin typeface="Segoe UI"/>
              </a:rPr>
              <a:t>• MessageBrokerDataLogs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C5B5"/>
                </a:solidFill>
                <a:latin typeface="Segoe UI Semibold"/>
              </a:rPr>
              <a:t>ASINCRON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Message broker &amp; ingestia detecțiilor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B3C"/>
                </a:solidFill>
                <a:latin typeface="Segoe UI Semibold"/>
              </a:rPr>
              <a:t>Consumatorul (Worker)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ServiceBusListenerService</a:t>
            </a:r>
            <a:r>
              <a:rPr sz="1200" b="0">
                <a:solidFill>
                  <a:srgbClr val="627288"/>
                </a:solidFill>
                <a:latin typeface="Segoe UI"/>
              </a:rPr>
              <a:t> — un BackgroundService per coadă, înregistrat ca IHostedService.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Per mesaj:</a:t>
            </a:r>
            <a:r>
              <a:rPr sz="1200" b="0">
                <a:solidFill>
                  <a:srgbClr val="627288"/>
                </a:solidFill>
                <a:latin typeface="Segoe UI"/>
              </a:rPr>
              <a:t> creează un scope DI, loghează mesajul brut în baza de logging, procesează, apoi confirmă mesajul (Complete).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Doar test-queue</a:t>
            </a:r>
            <a:r>
              <a:rPr sz="1200" b="0">
                <a:solidFill>
                  <a:srgbClr val="627288"/>
                </a:solidFill>
                <a:latin typeface="Segoe UI"/>
              </a:rPr>
              <a:t> este procesată → IRawDetectionService.CreateRawDetectionAsync.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Erorile sunt logate</a:t>
            </a:r>
            <a:r>
              <a:rPr sz="1200" b="0">
                <a:solidFill>
                  <a:srgbClr val="627288"/>
                </a:solidFill>
                <a:latin typeface="Segoe UI"/>
              </a:rPr>
              <a:t>, nu trimise în dead-letter.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 b="1">
                <a:solidFill>
                  <a:srgbClr val="1A2B3C"/>
                </a:solidFill>
                <a:latin typeface="Segoe UI"/>
              </a:rPr>
              <a:t>Rulează doar în Worker</a:t>
            </a:r>
            <a:r>
              <a:rPr sz="1200" b="0">
                <a:solidFill>
                  <a:srgbClr val="627288"/>
                </a:solidFill>
                <a:latin typeface="Segoe UI"/>
              </a:rPr>
              <a:t> — aplicația Web nu consumă coada.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0876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642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B3C"/>
                </a:solidFill>
                <a:latin typeface="Segoe UI Semibold"/>
              </a:rPr>
              <a:t>Pipeline-ul de ingestie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0E8C82"/>
                </a:solidFill>
                <a:latin typeface="Segoe UI"/>
              </a:rPr>
              <a:t>1.  </a:t>
            </a:r>
            <a:r>
              <a:rPr sz="1200">
                <a:solidFill>
                  <a:srgbClr val="627288"/>
                </a:solidFill>
                <a:latin typeface="Segoe UI"/>
              </a:rPr>
              <a:t>Deserializează cererea (RawDetectionRequest).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0E8C82"/>
                </a:solidFill>
                <a:latin typeface="Segoe UI"/>
              </a:rPr>
              <a:t>2.  </a:t>
            </a:r>
            <a:r>
              <a:rPr sz="1200">
                <a:solidFill>
                  <a:srgbClr val="627288"/>
                </a:solidFill>
                <a:latin typeface="Segoe UI"/>
              </a:rPr>
              <a:t>Descarcă imaginile sursă/crop/preview prin HTTP.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0E8C82"/>
                </a:solidFill>
                <a:latin typeface="Segoe UI"/>
              </a:rPr>
              <a:t>3.  </a:t>
            </a:r>
            <a:r>
              <a:rPr sz="1200">
                <a:solidFill>
                  <a:srgbClr val="627288"/>
                </a:solidFill>
                <a:latin typeface="Segoe UI"/>
              </a:rPr>
              <a:t>Într-o tranzacție (UoW): urcă imaginile în Azure Blob + salvează RawDetection.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0E8C82"/>
                </a:solidFill>
                <a:latin typeface="Segoe UI"/>
              </a:rPr>
              <a:t>4.  </a:t>
            </a:r>
            <a:r>
              <a:rPr sz="1200">
                <a:solidFill>
                  <a:srgbClr val="627288"/>
                </a:solidFill>
                <a:latin typeface="Segoe UI"/>
              </a:rPr>
              <a:t>ProcessPictureAiAsync → serviciu AI care adnotează imaginea.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0E8C82"/>
                </a:solidFill>
                <a:latin typeface="Segoe UI"/>
              </a:rPr>
              <a:t>5.  </a:t>
            </a:r>
            <a:r>
              <a:rPr sz="1200">
                <a:solidFill>
                  <a:srgbClr val="627288"/>
                </a:solidFill>
                <a:latin typeface="Segoe UI"/>
              </a:rPr>
              <a:t>ProcessRawDataInfoAiAsync → serviciu AI pe categorie (trash / potholes / billboard / trafficsigns).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C5B5"/>
                </a:solidFill>
                <a:latin typeface="Segoe UI Semibold"/>
              </a:rPr>
              <a:t>CROSS-CUTTING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Securitate, logging &amp;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11880" cy="566928"/>
          </a:xfrm>
          <a:prstGeom prst="round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37943"/>
            <a:ext cx="3611880" cy="283464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3154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Securitate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320040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ASP.NET Core Identity + autentificare pe cookie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Store-uri custom: AppUserStore / AppRoleStore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PasswordValidator custom (politică din appsettings)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Impersonare utilizator (prin claims)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Controllere [Authorize] by default; login e [AllowAnonymous]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554480"/>
            <a:ext cx="3611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9392" y="1554480"/>
            <a:ext cx="3611880" cy="566928"/>
          </a:xfrm>
          <a:prstGeom prst="round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837943"/>
            <a:ext cx="3611880" cy="283464"/>
          </a:xfrm>
          <a:prstGeom prst="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554480"/>
            <a:ext cx="3154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Logging &amp; observabilitate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20040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NLog cu 5 target-uri în baza de logging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Rutare pe nume de logger (request / diag / app / …)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CorrelationIDMiddleware pentru corelarea cererilor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RequestLoggingMiddleware (request/response)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ExceptionCatcherMiddleware (erori globale)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554480"/>
            <a:ext cx="3611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4" y="1554480"/>
            <a:ext cx="3611880" cy="566928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837943"/>
            <a:ext cx="3611880" cy="2834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554480"/>
            <a:ext cx="3154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331720"/>
            <a:ext cx="320040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Docker — imagine Windows nanoserver, base aspnet:8.0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Expune porturile 8080 / 8081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Două procese deployabile: Web (UI) + Worker (ingestie)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Config prin appsettings.json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30" b="1">
                <a:solidFill>
                  <a:srgbClr val="0E8C82"/>
                </a:solidFill>
                <a:latin typeface="Segoe UI"/>
              </a:rPr>
              <a:t>▸  </a:t>
            </a:r>
            <a:r>
              <a:rPr sz="1130" b="0">
                <a:solidFill>
                  <a:srgbClr val="1A2B3C"/>
                </a:solidFill>
                <a:latin typeface="Segoe UI"/>
              </a:rPr>
              <a:t>Schema DB livrată ca .dacpac (Template.Database)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C5B5"/>
                </a:solidFill>
                <a:latin typeface="Segoe UI Semibold"/>
              </a:rPr>
              <a:t>REZUMAT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SmartCity pe scurt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5394960" cy="4160520"/>
          </a:xfrm>
          <a:prstGeom prst="roundRect">
            <a:avLst/>
          </a:prstGeom>
          <a:solidFill>
            <a:srgbClr val="163A5C"/>
          </a:solidFill>
          <a:ln w="12700">
            <a:solidFill>
              <a:srgbClr val="1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214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C5B5"/>
                </a:solidFill>
                <a:latin typeface="Segoe UI Semibold"/>
              </a:rPr>
              <a:t>Esența aplicației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892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BC5B5"/>
                </a:solidFill>
                <a:latin typeface="Segoe UI"/>
              </a:rPr>
              <a:t>▸  </a:t>
            </a:r>
            <a:r>
              <a:rPr sz="1250" b="0">
                <a:solidFill>
                  <a:srgbClr val="FFFFFF"/>
                </a:solidFill>
                <a:latin typeface="Segoe UI"/>
              </a:rPr>
              <a:t>Platformă smart-city de detecție AI → triaj → repartizare → rezolvare.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BC5B5"/>
                </a:solidFill>
                <a:latin typeface="Segoe UI"/>
              </a:rPr>
              <a:t>▸  </a:t>
            </a:r>
            <a:r>
              <a:rPr sz="1250" b="0">
                <a:solidFill>
                  <a:srgbClr val="FFFFFF"/>
                </a:solidFill>
                <a:latin typeface="Segoe UI"/>
              </a:rPr>
              <a:t>ASP.NET Core 8 MVC, arhitectură N-tier (Clean/Onion).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BC5B5"/>
                </a:solidFill>
                <a:latin typeface="Segoe UI"/>
              </a:rPr>
              <a:t>▸  </a:t>
            </a:r>
            <a:r>
              <a:rPr sz="1250" b="0">
                <a:solidFill>
                  <a:srgbClr val="FFFFFF"/>
                </a:solidFill>
                <a:latin typeface="Segoe UI"/>
              </a:rPr>
              <a:t>Ingestie asincronă prin Azure Service Bus + Worker separat.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BC5B5"/>
                </a:solidFill>
                <a:latin typeface="Segoe UI"/>
              </a:rPr>
              <a:t>▸  </a:t>
            </a:r>
            <a:r>
              <a:rPr sz="1250" b="0">
                <a:solidFill>
                  <a:srgbClr val="FFFFFF"/>
                </a:solidFill>
                <a:latin typeface="Segoe UI"/>
              </a:rPr>
              <a:t>Date în SQL Server (EF Core + Dapper), imagini în Azure Blob.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BC5B5"/>
                </a:solidFill>
                <a:latin typeface="Segoe UI"/>
              </a:rPr>
              <a:t>▸  </a:t>
            </a:r>
            <a:r>
              <a:rPr sz="1250" b="0">
                <a:solidFill>
                  <a:srgbClr val="FFFFFF"/>
                </a:solidFill>
                <a:latin typeface="Segoe UI"/>
              </a:rPr>
              <a:t>Securitate pe Identity + cookie; logging pe NLog.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20240"/>
            <a:ext cx="50292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214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8C82"/>
                </a:solidFill>
                <a:latin typeface="Segoe UI Semibold"/>
              </a:rPr>
              <a:t>Funcționalități principale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5176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>
                <a:solidFill>
                  <a:srgbClr val="1A2B3C"/>
                </a:solidFill>
                <a:latin typeface="Segoe UI"/>
              </a:rPr>
              <a:t>Dashboard cu numărători pe categorii și hartă.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>
                <a:solidFill>
                  <a:srgbClr val="1A2B3C"/>
                </a:solidFill>
                <a:latin typeface="Segoe UI"/>
              </a:rPr>
              <a:t>Inbox de triaj pentru detecțiile brute (Admin).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>
                <a:solidFill>
                  <a:srgbClr val="1A2B3C"/>
                </a:solidFill>
                <a:latin typeface="Segoe UI"/>
              </a:rPr>
              <a:t>Repartizare pe departament / echipă, cu Gantt.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>
                <a:solidFill>
                  <a:srgbClr val="1A2B3C"/>
                </a:solidFill>
                <a:latin typeface="Segoe UI"/>
              </a:rPr>
              <a:t>Chat + jurnal de flux pe fiecare detecție.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>
                <a:solidFill>
                  <a:srgbClr val="1A2B3C"/>
                </a:solidFill>
                <a:latin typeface="Segoe UI"/>
              </a:rPr>
              <a:t>Management utilizatori &amp; impersonare.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0E8C82"/>
                </a:solidFill>
                <a:latin typeface="Segoe UI"/>
              </a:rPr>
              <a:t>▸  </a:t>
            </a:r>
            <a:r>
              <a:rPr sz="1200">
                <a:solidFill>
                  <a:srgbClr val="1A2B3C"/>
                </a:solidFill>
                <a:latin typeface="Segoe UI"/>
              </a:rPr>
              <a:t>Analytics (integrare Power BI).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C5B5"/>
                </a:solidFill>
                <a:latin typeface="Segoe UI"/>
              </a:rPr>
              <a:t>SmartCity  ·  </a:t>
            </a:r>
            <a:r>
              <a:rPr sz="1100" b="0">
                <a:solidFill>
                  <a:srgbClr val="9FB4C8"/>
                </a:solidFill>
                <a:latin typeface="Segoe UI"/>
              </a:rPr>
              <a:t>.NET 8  ·  ASP.NET Core MVC  ·  Azure Service Bus  ·  SQL Server  ·  Azure Blob Storage  ·  NLog  ·  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